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132A4A"/>
          </a:solidFill>
          <a:ln w="6350">
            <a:solidFill>
              <a:srgbClr val="4E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none"/>
          <a:lstStyle/>
          <a:p>
            <a:pPr algn="ctr"/>
            <a:r>
              <a:rPr sz="1000" b="1">
                <a:solidFill>
                  <a:srgbClr val="4EA1FF"/>
                </a:solidFill>
                <a:latin typeface="Calibri"/>
              </a:rPr>
              <a:t>PRE-SEED / SEED   ·   HEALTHCARE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>
                <a:solidFill>
                  <a:srgbClr val="E7EDF5"/>
                </a:solidFill>
                <a:latin typeface="Calibri"/>
              </a:rPr>
              <a:t>The AI-Powered Operating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E7EDF5"/>
                </a:solidFill>
                <a:latin typeface="Calibri"/>
              </a:rPr>
              <a:t>System for Dental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FB0C8"/>
                </a:solidFill>
                <a:latin typeface="Calibri"/>
              </a:rPr>
              <a:t>Cloud-native, AI-first practice management — built to cut admin workload by 40%, no-shows by 30%, and bring real AI to every dental chair.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7 AI features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63824" y="512064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Web · Mobile ·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9008" y="5120640"/>
            <a:ext cx="2386584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Multi-tenant SaaS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5120640"/>
            <a:ext cx="2980944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Pilot revenue in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65992" y="512064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Canada-ready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097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9FB0C8"/>
                </a:solidFill>
                <a:latin typeface="Calibri"/>
              </a:rPr>
              <a:t>RAISING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417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800" b="1">
                <a:solidFill>
                  <a:srgbClr val="7AFCC0"/>
                </a:solidFill>
                <a:latin typeface="Calibri"/>
              </a:rPr>
              <a:t>CAD $[TBD]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2860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Pre-seed / Seed</a:t>
            </a:r>
          </a:p>
          <a:p>
            <a:pPr algn="r">
              <a:lnSpc>
                <a:spcPct val="130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[TBD] month 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Dental practices run on software built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before the cloud — and before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ADMIN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Front-desk teams spend 30–45% of their day on appointments, recalls, insurance forms, and follow-up — repetitive, rules-based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7432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NO-SHOW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A typical 3-operatory clinic loses CAD $[TBD]/year to no-shows alone. Most clinics have no system that flags high-risk appointments.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DOCUMENTATION BURNOUT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Dentists spend 30+ minutes/day retyping the same SOAP notes and prescriptions. Top-3 driver of mid-career burnout in CDA surveys.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920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STAGNANT INCUMBENTS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949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Dentrix, ABELDent, ClearDent — pre-2010 architectures, on-prem, bolted-on AI, priced for chains, hostile to single-chair clinics.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One integrated platform. Three surfaces.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Seven live AI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WEB APP — 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Patients · scheduling · clinical · dental chart · treatment plans · prescriptions · invoicing · insurance ·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MOBILE — REACT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461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Clinician on the go: patient lookup, treatments, prescriptions, billing, WhatsApp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AI LAYER — CLAUDE + 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2461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Real LLM features in production with prompt-cache cost engineering — not template substitution.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Next.js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1663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5166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Expo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51663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5166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NestJS API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(multi-tenant)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1663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166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PostgreSQL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+ Prisma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51663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5166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AI Layer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DF5"/>
                </a:solidFill>
                <a:latin typeface="Calibri"/>
              </a:rPr>
              <a:t>(Claude · GPT)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PRODUCT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Full clinic operations in one cloud-native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Dental chart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SOAP visits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Treatment plans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Prescriptions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X-ray +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Smart scheduling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Recall automation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Inventory + stock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Expenses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Reports + exports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Invoices + GST/tax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Payments (Razorpay; Stripe Canada)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Insurance claims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Pre-auth + reimbursement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Revenue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2860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88920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WhatsApp Business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SMS + Email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Campaigns + A/B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Referrals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Feedback / NPS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Phases 1–6 complete  ·  Phase 7 (Insurance/EHS) backend live, frontend in progress  ·  365+ backend tests  ·  Vitest + Playwright on frontend.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AI RELEVANCE — REAL AI, NOT BASIC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Seven AI features in production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1 · AI CLINICAL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Generates structured SOAP notes; populates the same clinical model as manual entry — no parallel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2 · AI TREATMENT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Multi-phase plans with urgency, alternatives, cost — full TreatmentPlan + Item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3 · AI PRESCRIPTION +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Allergy / age / pregnancy aware · drug-interaction flagged · inventory-aware (prescribes from clinic stock first).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94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4 · AI DENTAL CHART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Claude Vision · GPT-4V — analyzes uploaded charts and X-rays (assistive, not diagnostic).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5 · AI REVENUE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Surfaces anomalies and growth levers from billing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2920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6 · AI PATIENT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5321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Nightly batch scores no-show, recall, churn, conversion. LLM reserved for click-to-explain. Zero hot-path AI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+ AI Appointment Summary  ·  AI Campaign Content    ·    Voice-to-Consultation (Whisper) in roadmap.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PRODUCTIVITY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Quantified targets, mapped to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743200" cy="256032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ADMIN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−40%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Recall automation, multi-channel reminders, AI-drafted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743200" cy="256032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NO-SHOWS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−30%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033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WhatsApp + SMS + risk scoring + waitlist auto-fill.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2743200" cy="256032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DOCUMENTATION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80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033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AI clinical notes + voice (roadmap).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377440"/>
            <a:ext cx="2743200" cy="256032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OPERATIONAL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880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+25%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7033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Unified UI + automation cron + dashboards.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Targets to be validated via 3-clinic Canadian pilot in Year 1 (Section 9 of grant proposal).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Canadian dental software · $[TBD]M TAM and growing.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$[TBD]M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Global dental practice mgmt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19456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974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$[TBD]M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Canada + adjacent English markets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19456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SOM (Y3)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6974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$[TBD]M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520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Target 1,500 Canadian clinics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3774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GEOGRAPHIC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97480"/>
            <a:ext cx="33832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Year 1:  Ontario + BC pilots → Canada launch.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Year 2:  Canada scale + select US states (insurance strategies for Delta Dental &amp; MetLife already seeded in code).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DF5"/>
                </a:solidFill>
                <a:latin typeface="Calibri"/>
              </a:rPr>
              <a:t>Year 3:  US expansion + UK / AU exploration. India pilot continues as cost-efficient revenue base.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713232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WHY CANADA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>
                <a:solidFill>
                  <a:srgbClr val="E7EDF5"/>
                </a:solidFill>
                <a:latin typeface="Calibri"/>
              </a:rPr>
              <a:t>•  ~16,000 dental practices in Canada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>
                <a:solidFill>
                  <a:srgbClr val="E7EDF5"/>
                </a:solidFill>
                <a:latin typeface="Calibri"/>
              </a:rPr>
              <a:t>•  Independent + DSO mix — both underserved by AI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>
                <a:solidFill>
                  <a:srgbClr val="E7EDF5"/>
                </a:solidFill>
                <a:latin typeface="Calibri"/>
              </a:rPr>
              <a:t>•  Incumbents priced at CAD $200–500+/op/month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>
                <a:solidFill>
                  <a:srgbClr val="E7EDF5"/>
                </a:solidFill>
                <a:latin typeface="Calibri"/>
              </a:rPr>
              <a:t>•  Cloud-native AI-first entrant has clear pricing + product wedge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Bolt-on AI vs. AI-native cloud platform.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834640"/>
                <a:gridCol w="2926080"/>
              </a:tblGrid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Dentrix / ABEL / ClearDent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Dentally / Curve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Smart Dental Desk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</a:tr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On-prem / hybrid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Cloud-native, multi-tenant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Bolted-on / partner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7 live features, prompt-cached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Mobile (clinician)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Web-mobile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Native React Native app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WhatsApp / multi-channel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Native + Meta-approved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  <a:tr h="561702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Insurance/EHS abstraction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Region-locked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Region-locked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Country-strategy pattern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61708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E7EDF5"/>
                          </a:solidFill>
                          <a:latin typeface="Calibri"/>
                        </a:rPr>
                        <a:t>Entry price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$200–500+/op/mo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9FB0C8"/>
                          </a:solidFill>
                          <a:latin typeface="Calibri"/>
                        </a:rPr>
                        <a:t>$150–250/op/mo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7AFCC0"/>
                          </a:solidFill>
                          <a:latin typeface="Calibri"/>
                        </a:rPr>
                        <a:t>$49–149/clinic/mo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TRACTION &amp;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Production platform with paying clinics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CLINICS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[X]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Pilot market (India) — paying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₹[X]K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Validates pricing + 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CODE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365+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Backend tests · Vitest + Playwright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Expo build, app-store 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5669280" cy="20116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WHAT'S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Phases 1–6: backend, web, hardening, comms, prod, AI, mobile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Phase 7 (Insurance/EHS) backend complete — 11 Prisma models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WhatsApp Meta-approved · embedded signup in flight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25196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4348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FCC0"/>
                </a:solidFill>
                <a:latin typeface="Calibri"/>
              </a:rPr>
              <a:t>WHAT'S NEXT (WITH FUNDING)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80"/>
            <a:ext cx="4800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PIPEDA/PHIPA adaptation · Canadian cloud region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3-clinic Canadian pilot · publish KPI study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Public Canadian launch + association partnerships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SOC 2 Type I certification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Validated 3-tier SaaS — repriced for Canada.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2743200"/>
                <a:gridCol w="3566160"/>
              </a:tblGrid>
              <a:tr h="512064">
                <a:tc>
                  <a:txBody>
                    <a:bodyPr lIns="109728" rIns="109728" tIns="54864" bIns="54864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India (validated)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Canada (proposed)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Who it's for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</a:tr>
              <a:tr h="512064"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E7EDF5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CAD $0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9FB0C8"/>
                          </a:solidFill>
                          <a:latin typeface="Calibri"/>
                        </a:rPr>
                        <a:t>Try-before-buy · 1 doctor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12064"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E7EDF5"/>
                          </a:solidFill>
                          <a:latin typeface="Calibri"/>
                        </a:rPr>
                        <a:t>Standard ⭐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₹699/mo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CAD $49–69/mo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9FB0C8"/>
                          </a:solidFill>
                          <a:latin typeface="Calibri"/>
                        </a:rPr>
                        <a:t>Solo/duo practice · most popular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  <a:tr h="512064"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E7EDF5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₹1,299/mo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CAD $99–149/mo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9FB0C8"/>
                          </a:solidFill>
                          <a:latin typeface="Calibri"/>
                        </a:rPr>
                        <a:t>Multi-op · automation · own WABA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12064"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E7EDF5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Custom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Custom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9FB0C8"/>
                          </a:solidFill>
                          <a:latin typeface="Calibri"/>
                        </a:rPr>
                        <a:t>DSO / multi-branch chains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3776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80%+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32004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Cloud SaaS, capped AI quota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93776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20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PAYG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263640"/>
            <a:ext cx="32004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WhatsApp / SMS / AI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93776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20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AFCC0"/>
                </a:solidFill>
                <a:latin typeface="Calibri"/>
              </a:rPr>
              <a:t>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6263640"/>
            <a:ext cx="32004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8"/>
                </a:solidFill>
                <a:latin typeface="Calibri"/>
              </a:rPr>
              <a:t>Labs · imaging · insurance fees (Y2+)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COLLABORATION &amp; CONSORTIUM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Building a Canadian healthcare-AI alliance.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ACADEMIC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Canadian dental school for clinical validation, research publication, and resident training. [Schulich / U of T / UBC — outreach planned]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CLINICAL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Multi-location DSO or independent dentist association for pilot deployment and real-world data. [3 candidates being identified]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CLOUD + INFRA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AWS Canada Central / Azure Canada Central, MLOps support, Canadian data residency. [CSP engagement in progress]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COMPLIANCE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PIPEDA / PHIPA specialist for initial audit and ongoing compliance. [Quote in progress]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LOIs and MOUs to be attached as Annex A of the grant submission.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7EDF5"/>
                </a:solidFill>
                <a:latin typeface="Calibri"/>
              </a:rPr>
              <a:t>Builders who 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FOUNDER /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7EDF5"/>
                </a:solidFill>
                <a:latin typeface="Calibri"/>
              </a:rPr>
              <a:t>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[Background — clinical / commercial leadership]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CO-FOUNDER / TECH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7EDF5"/>
                </a:solidFill>
                <a:latin typeface="Calibri"/>
              </a:rPr>
              <a:t>Prasanth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Full-stack engineer. Built the entire platform across web, backend, mobile, AI integration, and prompt-cache cost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CLINICAL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7EDF5"/>
                </a:solidFill>
                <a:latin typeface="Calibri"/>
              </a:rPr>
              <a:t>[Name, BDS/MDS]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9184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FB0C8"/>
                </a:solidFill>
                <a:latin typeface="Calibri"/>
              </a:rPr>
              <a:t>Practicing dentist · clinical workflow validation · advisory 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POST-FUNDING HIRES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Canadian market lead · 2nd backend engineer · Customer success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ADVISORS TO 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035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Practicing Canadian dentist · Healthcare regulatory veteran · GTM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EA1FF"/>
                </a:solidFill>
                <a:latin typeface="Calibri"/>
              </a:rPr>
              <a:t>WHY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3035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DF5"/>
                </a:solidFill>
                <a:latin typeface="Calibri"/>
              </a:rPr>
              <a:t>We've already built and shipped what most pre-seed teams promise. Funding accelerates a working product into a new geography.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EA1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7AFCC0"/>
                </a:solidFill>
                <a:latin typeface="Calibri"/>
              </a:rPr>
              <a:t>CAD $[TBD]</a:t>
            </a:r>
            <a:r>
              <a:rPr sz="3200" b="0">
                <a:solidFill>
                  <a:srgbClr val="E7EDF5"/>
                </a:solidFill>
                <a:latin typeface="Calibri"/>
              </a:rPr>
              <a:t>  over  </a:t>
            </a:r>
            <a:r>
              <a:rPr sz="4000" b="1">
                <a:solidFill>
                  <a:srgbClr val="7AFCC0"/>
                </a:solidFill>
                <a:latin typeface="Calibri"/>
              </a:rPr>
              <a:t>[TBD] months</a:t>
            </a:r>
            <a:r>
              <a:rPr sz="3200" b="0">
                <a:solidFill>
                  <a:srgbClr val="E7EDF5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743200"/>
          <a:ext cx="67665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280160"/>
              </a:tblGrid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Use of funds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100" b="1">
                          <a:solidFill>
                            <a:srgbClr val="9FB0C8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4223D"/>
                    </a:solidFill>
                  </a:tcPr>
                </a:tc>
              </a:tr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Engineering (Canadian features, compliance, hardening)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Pilot operations + clinical validation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Go-to-market (marketing, content, sales)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Compliance + security (SOC 2, PIPEDA, pen test)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  <a:tr h="483325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Infrastructure (Canadian cloud)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3330">
                <a:tc>
                  <a:txBody>
                    <a:bodyPr lIns="109728" rIns="109728" tIns="54864" bIns="54864"/>
                    <a:lstStyle/>
                    <a:p>
                      <a:r>
                        <a:rPr sz="1300">
                          <a:solidFill>
                            <a:srgbClr val="E7EDF5"/>
                          </a:solidFill>
                          <a:latin typeface="Calibri"/>
                        </a:rPr>
                        <a:t>Working capital + contingency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 algn="r"/>
                      <a:r>
                        <a:rPr sz="1300" b="1">
                          <a:solidFill>
                            <a:srgbClr val="7AFCC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101C3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274320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9525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2926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AFCC0"/>
                </a:solidFill>
                <a:latin typeface="Calibri"/>
              </a:rPr>
              <a:t>12-MONTH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46120"/>
            <a:ext cx="3474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M1: Canadian cloud live · PIPEDA gap analysis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M3: First pilot clinic live in Ontario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M6: Validated KPIs from 3 pilots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M7: Public Canadian launch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M11: SOC 2 Type I complete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>
                <a:solidFill>
                  <a:srgbClr val="E7EDF5"/>
                </a:solidFill>
                <a:latin typeface="Calibri"/>
              </a:rPr>
              <a:t>•  M12: 50 paying Canadian clinics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132A4A"/>
          </a:solidFill>
          <a:ln w="6350">
            <a:solidFill>
              <a:srgbClr val="4E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none"/>
          <a:lstStyle/>
          <a:p>
            <a:pPr algn="ctr"/>
            <a:r>
              <a:rPr sz="1000" b="1">
                <a:solidFill>
                  <a:srgbClr val="4EA1FF"/>
                </a:solidFill>
                <a:latin typeface="Calibri"/>
              </a:rPr>
              <a:t>LET'S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>
                <a:solidFill>
                  <a:srgbClr val="E7EDF5"/>
                </a:solidFill>
                <a:latin typeface="Calibri"/>
              </a:rPr>
              <a:t>A scalable Canadian</a:t>
            </a:r>
          </a:p>
          <a:p>
            <a:pPr algn="l">
              <a:lnSpc>
                <a:spcPct val="108000"/>
              </a:lnSpc>
            </a:pPr>
            <a:r>
              <a:rPr sz="5000" b="1">
                <a:solidFill>
                  <a:srgbClr val="E7EDF5"/>
                </a:solidFill>
                <a:latin typeface="Calibri"/>
              </a:rPr>
              <a:t>healthcare-AI platform —</a:t>
            </a:r>
          </a:p>
          <a:p>
            <a:pPr algn="l">
              <a:lnSpc>
                <a:spcPct val="108000"/>
              </a:lnSpc>
            </a:pPr>
            <a:r>
              <a:rPr sz="5000" b="1">
                <a:solidFill>
                  <a:srgbClr val="7AFCC0"/>
                </a:solidFill>
                <a:latin typeface="Calibri"/>
              </a:rPr>
              <a:t>shipped, not promised.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9FB0C8"/>
                </a:solidFill>
                <a:latin typeface="Calibri"/>
              </a:rPr>
              <a:t>We have the product, the architecture, and the pilot data path. With this round we bring it to Canadian dental practices and a measurable, publishable clinical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52160"/>
            <a:ext cx="3099816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pvprasanth474@gmail.com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6" y="5852160"/>
            <a:ext cx="2624328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smartdentaldesk.com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7104" y="5852160"/>
            <a:ext cx="4764024" cy="310896"/>
          </a:xfrm>
          <a:prstGeom prst="roundRect">
            <a:avLst>
              <a:gd name="adj" fmla="val 50000"/>
            </a:avLst>
          </a:prstGeom>
          <a:solidFill>
            <a:srgbClr val="14223D"/>
          </a:solidFill>
          <a:ln w="63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>
                <a:solidFill>
                  <a:srgbClr val="E7EDF5"/>
                </a:solidFill>
                <a:latin typeface="Calibri"/>
              </a:rPr>
              <a:t>Smart Dental Desk · FB 61572113176366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AFCC0"/>
                </a:solidFill>
                <a:latin typeface="Calibri"/>
              </a:rPr>
              <a:t>→  Schedule a 30-minute product walkthrough.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9FB0C8"/>
                </a:solidFill>
                <a:latin typeface="Calibri"/>
              </a:rPr>
              <a:t>SMART DENTAL DESK  ·  Investor Pitch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FB0C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